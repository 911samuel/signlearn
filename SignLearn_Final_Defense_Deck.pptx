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3200400"/>
            <a:ext cx="91440" cy="-2286000"/>
          </a:xfrm>
          <a:prstGeom prst="line">
            <a:avLst/>
          </a:prstGeom>
          <a:noFill/>
          <a:ln w="6350">
            <a:solidFill>
              <a:srgbClr val="0F8F86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98480" y="3200400"/>
            <a:ext cx="365760" cy="-2103120"/>
          </a:xfrm>
          <a:prstGeom prst="line">
            <a:avLst/>
          </a:prstGeom>
          <a:noFill/>
          <a:ln w="6350">
            <a:solidFill>
              <a:srgbClr val="0F8F86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98480" y="3200400"/>
            <a:ext cx="548640" cy="-1828800"/>
          </a:xfrm>
          <a:prstGeom prst="line">
            <a:avLst/>
          </a:prstGeom>
          <a:noFill/>
          <a:ln w="6350">
            <a:solidFill>
              <a:srgbClr val="0F8F8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0" y="3200400"/>
            <a:ext cx="640080" cy="-1508760"/>
          </a:xfrm>
          <a:prstGeom prst="line">
            <a:avLst/>
          </a:prstGeom>
          <a:noFill/>
          <a:ln w="6350">
            <a:solidFill>
              <a:srgbClr val="0F8F8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98480" y="3200400"/>
            <a:ext cx="685800" cy="-1188720"/>
          </a:xfrm>
          <a:prstGeom prst="line">
            <a:avLst/>
          </a:prstGeom>
          <a:noFill/>
          <a:ln w="6350">
            <a:solidFill>
              <a:srgbClr val="0F8F86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98480" y="3200400"/>
            <a:ext cx="-45720" cy="-1920240"/>
          </a:xfrm>
          <a:prstGeom prst="line">
            <a:avLst/>
          </a:prstGeom>
          <a:noFill/>
          <a:ln w="6350">
            <a:solidFill>
              <a:srgbClr val="0F8F86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98480" y="3200400"/>
            <a:ext cx="228600" cy="-1554480"/>
          </a:xfrm>
          <a:prstGeom prst="line">
            <a:avLst/>
          </a:prstGeom>
          <a:noFill/>
          <a:ln w="6350">
            <a:solidFill>
              <a:srgbClr val="0F8F86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8480" y="3200400"/>
            <a:ext cx="347472" cy="-1234440"/>
          </a:xfrm>
          <a:prstGeom prst="line">
            <a:avLst/>
          </a:prstGeom>
          <a:noFill/>
          <a:ln w="6350">
            <a:solidFill>
              <a:srgbClr val="0F8F86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98480" y="3200400"/>
            <a:ext cx="411480" cy="-960120"/>
          </a:xfrm>
          <a:prstGeom prst="line">
            <a:avLst/>
          </a:prstGeom>
          <a:noFill/>
          <a:ln w="6350">
            <a:solidFill>
              <a:srgbClr val="0F8F86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98480" y="3200400"/>
            <a:ext cx="-228600" cy="-1737360"/>
          </a:xfrm>
          <a:prstGeom prst="line">
            <a:avLst/>
          </a:prstGeom>
          <a:noFill/>
          <a:ln w="6350">
            <a:solidFill>
              <a:srgbClr val="0F8F86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98480" y="3200400"/>
            <a:ext cx="45720" cy="-1325880"/>
          </a:xfrm>
          <a:prstGeom prst="line">
            <a:avLst/>
          </a:prstGeom>
          <a:noFill/>
          <a:ln w="6350">
            <a:solidFill>
              <a:srgbClr val="0F8F86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98480" y="3200400"/>
            <a:ext cx="137160" cy="-1005840"/>
          </a:xfrm>
          <a:prstGeom prst="line">
            <a:avLst/>
          </a:prstGeom>
          <a:noFill/>
          <a:ln w="6350">
            <a:solidFill>
              <a:srgbClr val="0F8F86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98480" y="3200400"/>
            <a:ext cx="201168" cy="-731520"/>
          </a:xfrm>
          <a:prstGeom prst="line">
            <a:avLst/>
          </a:prstGeom>
          <a:noFill/>
          <a:ln w="6350">
            <a:solidFill>
              <a:srgbClr val="0F8F86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98480" y="3200400"/>
            <a:ext cx="-411480" cy="-1508760"/>
          </a:xfrm>
          <a:prstGeom prst="line">
            <a:avLst/>
          </a:prstGeom>
          <a:noFill/>
          <a:ln w="6350">
            <a:solidFill>
              <a:srgbClr val="0F8F86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98480" y="3200400"/>
            <a:ext cx="-137160" cy="-1097280"/>
          </a:xfrm>
          <a:prstGeom prst="line">
            <a:avLst/>
          </a:prstGeom>
          <a:noFill/>
          <a:ln w="6350">
            <a:solidFill>
              <a:srgbClr val="0F8F86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0" y="3200400"/>
            <a:ext cx="-45720" cy="-804672"/>
          </a:xfrm>
          <a:prstGeom prst="line">
            <a:avLst/>
          </a:prstGeom>
          <a:noFill/>
          <a:ln w="6350">
            <a:solidFill>
              <a:srgbClr val="0F8F86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698480" y="3200400"/>
            <a:ext cx="18288" cy="-548640"/>
          </a:xfrm>
          <a:prstGeom prst="line">
            <a:avLst/>
          </a:prstGeom>
          <a:noFill/>
          <a:ln w="6350">
            <a:solidFill>
              <a:srgbClr val="0F8F86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98480" y="3200400"/>
            <a:ext cx="-640080" cy="-1234440"/>
          </a:xfrm>
          <a:prstGeom prst="line">
            <a:avLst/>
          </a:prstGeom>
          <a:noFill/>
          <a:ln w="6350">
            <a:solidFill>
              <a:srgbClr val="0F8F86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98480" y="3200400"/>
            <a:ext cx="-320040" cy="-868680"/>
          </a:xfrm>
          <a:prstGeom prst="line">
            <a:avLst/>
          </a:prstGeom>
          <a:noFill/>
          <a:ln w="6350">
            <a:solidFill>
              <a:srgbClr val="0F8F86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98480" y="3200400"/>
            <a:ext cx="-228600" cy="-594360"/>
          </a:xfrm>
          <a:prstGeom prst="line">
            <a:avLst/>
          </a:prstGeom>
          <a:noFill/>
          <a:ln w="6350">
            <a:solidFill>
              <a:srgbClr val="0F8F86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98480" y="3200400"/>
            <a:ext cx="-182880" cy="-365760"/>
          </a:xfrm>
          <a:prstGeom prst="line">
            <a:avLst/>
          </a:prstGeom>
          <a:noFill/>
          <a:ln w="6350">
            <a:solidFill>
              <a:srgbClr val="0F8F86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735056" y="85953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009376" y="104241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131673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283696" y="163677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329416" y="195681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597896" y="122529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872216" y="159105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991088" y="191109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055096" y="218541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415016" y="140817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689336" y="181965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780776" y="213969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844784" y="241401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232136" y="163677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506456" y="204825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597896" y="2340864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661904" y="259689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003536" y="191109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323576" y="227685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415016" y="255117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460736" y="277977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607040" y="3108960"/>
            <a:ext cx="182880" cy="1828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182880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SignLearn</a:t>
            </a:r>
            <a:endParaRPr lang="en-US" sz="8800" dirty="0"/>
          </a:p>
        </p:txBody>
      </p:sp>
      <p:sp>
        <p:nvSpPr>
          <p:cNvPr id="46" name="Text 44"/>
          <p:cNvSpPr/>
          <p:nvPr/>
        </p:nvSpPr>
        <p:spPr>
          <a:xfrm>
            <a:off x="658368" y="3291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4B8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Real-Time AI-Powered Sign Language Translation System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658368" y="4937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ABAYIZERA Samuel</a:t>
            </a:r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·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BIZIMANA Bertin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658368" y="53492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Department of Computer &amp; Software Engineering  ·  University of Rwanda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58368" y="56692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Supervisors: Dr. Alexander NGENZI  ·  Dieudonné UKULIKIYEYESU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58368" y="6035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DEFENSE  ·  2025–2026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 THE PROBLEM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exclusion at national scale.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466 million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58368" y="2697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Deaf or Hard-of-Hearing globally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0" y="18288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~50,000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6419088" y="2697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Deaf or Hard-of-Hearing in Rwanda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50,000</a:t>
            </a:r>
            <a:endParaRPr lang="en-US" sz="10000" dirty="0"/>
          </a:p>
        </p:txBody>
      </p:sp>
      <p:sp>
        <p:nvSpPr>
          <p:cNvPr id="9" name="Text 7"/>
          <p:cNvSpPr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Approximate ratio of certified ASL interpreters to DHH users in Rwanda.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54864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Result: DHH Rwandans are excluded from classrooms, hospitals, courts, and government services in moments where interpreter scheduling fails.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SignLearn  ·  University of Rwanda  ·  Final Defense 2025–2026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 STUDY OBJECTIVES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study set out to do.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109960" cy="1051560"/>
          </a:xfrm>
          <a:prstGeom prst="roundRect">
            <a:avLst>
              <a:gd name="adj" fmla="val 8696"/>
            </a:avLst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20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GENERAL OBJECTIVE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 design, develop, and evaluate a real-time AI-powered web application that facilitates bidirectional communication between American Sign Language users and English speakers.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SPECIFIC OBJECTIVES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3337560"/>
            <a:ext cx="50292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33756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3337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34840" y="3337560"/>
            <a:ext cx="7269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Review existing sign-language translation systems and the gap they leave for everyday DHH-hearing communication.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904488"/>
            <a:ext cx="50292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90448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90448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&amp; comparison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34840" y="3904488"/>
            <a:ext cx="7269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Train and empirically compare candidate sequence architectures on MediaPipe landmark features; promote the best to production.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4471416"/>
            <a:ext cx="50292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471416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447141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 pipeline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434840" y="4471416"/>
            <a:ext cx="7269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Design and implement a pipeline for collecting, preprocessing, and preparing sign-language datasets — auditable end to end.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5038344"/>
            <a:ext cx="50292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5038344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503834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application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434840" y="5038344"/>
            <a:ext cx="7269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Build a web interface integrating the recognition model with a speech-to-text channel and a shared conversation transcript.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5605272"/>
            <a:ext cx="50292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560527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51560" y="56052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434840" y="5605272"/>
            <a:ext cx="7269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Measure system accuracy, latency, and reproducibility against the project specification.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SignLearn  ·  University of Rwanda  ·  Final Defense 2025–2026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 EXISTING LITERATURE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eras, three persistent gaps.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EVOLUTION OF SIGN-LANGUAGE RECOGNITION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45720" cy="9144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57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1990s – 2000s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3134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gloves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6517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Accurate but intrusive — gloves, gyroscopes, wired hardware. Never deployable.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45720" cy="9144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200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2000s – 2010s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34564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computer vision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37947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HOG/SIFT + SVM/HMM on raw video. Failed under real-world lighting and signer variation.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434840"/>
            <a:ext cx="45720" cy="9144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343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2015 – today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45994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49377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CNN-LSTM hybrids, transformer encoders, MediaPipe landmark pipelines. Accuracy crossed 90 % — but most systems still require GPUs.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169164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GAPS THAT NO SINGLE PRIOR SYSTEM CLOSES TOGETHER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2057400"/>
            <a:ext cx="57607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21945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0" y="2194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only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58000" y="25603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 → text  or  speech → text — almost never both, in one shared transcript.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3200400"/>
            <a:ext cx="57607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33375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58000" y="3337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Hardware-bound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858000" y="37033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State-of-the-art requires GPU, glove, or depth camera (Kinect, LeapMotion).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26480" y="4343400"/>
            <a:ext cx="57607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44805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858000" y="4480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Lab-only accuracy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858000" y="48463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Published numbers collapse under real lighting and unseen signers.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5943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F8F8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SignLearn addresses all three gaps simultaneously — see Sections 4 (Methods) and 5 (Architecture).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SignLearn  ·  University of Rwanda  ·  Final Defense 2025–2026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 METHODS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model selection on audited data.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5440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65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classes  ·  11,417 test samples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3063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Kaggle ASL Alphabet + Kaggle ASL Digits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42900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AUGMENTATION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3611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Balanced to 600 samples / class (rotate, scale, translate, noise, drop)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9776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4160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Signer-aware: no signer in both train and test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452628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NORMALISATION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4709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Wrist-centred + unit-scaled per hand (range ≈ [−1, 1])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507492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 EXTENSION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" y="5257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Pivoted WLASL → ASL-Citizen (~3× signer diversity)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1783080"/>
            <a:ext cx="544068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783080"/>
            <a:ext cx="5440680" cy="7315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1965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SELECTION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46520" y="22860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architectures, identical conditions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46520" y="288036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LSTM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863840" y="2926080"/>
            <a:ext cx="676656" cy="274320"/>
          </a:xfrm>
          <a:prstGeom prst="rect">
            <a:avLst/>
          </a:prstGeom>
          <a:solidFill>
            <a:srgbClr val="152D55"/>
          </a:solidFill>
          <a:ln w="12700">
            <a:solidFill>
              <a:srgbClr val="152D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86216" y="2880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96.40%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46520" y="331927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BiLSTM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863840" y="3364992"/>
            <a:ext cx="1184148" cy="274320"/>
          </a:xfrm>
          <a:prstGeom prst="rect">
            <a:avLst/>
          </a:prstGeom>
          <a:solidFill>
            <a:srgbClr val="152D55"/>
          </a:solidFill>
          <a:ln w="12700">
            <a:solidFill>
              <a:srgbClr val="152D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93708" y="331927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96.70%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46520" y="3758184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Transformer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863840" y="3803904"/>
            <a:ext cx="1522476" cy="274320"/>
          </a:xfrm>
          <a:prstGeom prst="rect">
            <a:avLst/>
          </a:prstGeom>
          <a:solidFill>
            <a:srgbClr val="152D55"/>
          </a:solidFill>
          <a:ln w="12700">
            <a:solidFill>
              <a:srgbClr val="152D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32036" y="3758184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96.90%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46520" y="4197096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CNN-BiLSTM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863840" y="4242816"/>
            <a:ext cx="2029968" cy="274320"/>
          </a:xfrm>
          <a:prstGeom prst="rect">
            <a:avLst/>
          </a:prstGeom>
          <a:solidFill>
            <a:srgbClr val="152D55"/>
          </a:solidFill>
          <a:ln w="12700">
            <a:solidFill>
              <a:srgbClr val="152D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939528" y="4197096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97.20%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46520" y="4636008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Conformer-Lite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863840" y="4681728"/>
            <a:ext cx="845820" cy="274320"/>
          </a:xfrm>
          <a:prstGeom prst="rect">
            <a:avLst/>
          </a:prstGeom>
          <a:solidFill>
            <a:srgbClr val="152D55"/>
          </a:solidFill>
          <a:ln w="12700">
            <a:solidFill>
              <a:srgbClr val="152D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55380" y="463600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96.50%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46520" y="507492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8F8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TCN (production)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863840" y="5120640"/>
            <a:ext cx="3112618" cy="274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022178" y="50749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97.84%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8640" y="6035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F8F8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Identical splits, seed=42, 100 epochs, batch=32 across all 12 sweep configurations.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SignLearn  ·  University of Rwanda  ·  Final Defense 2025–2026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 SYSTEM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directions. One transcript.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331720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Webcam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20240" y="2331720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148840" y="228600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2331720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MediaPipe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Hands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20440" y="2331720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749040" y="228600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2331720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WebSocket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20640" y="2331720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349240" y="228600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2331720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30-frame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buffer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20840" y="2331720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949440" y="228600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95160" y="2331720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TCN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inference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21040" y="2331720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8549640" y="228600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0" y="2331720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Smoothed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SIGNER  ›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20624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152D55"/>
          </a:solidFill>
          <a:ln w="12700">
            <a:solidFill>
              <a:srgbClr val="152D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251960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Microphone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920240" y="4251960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2148840" y="420624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152D55"/>
          </a:solidFill>
          <a:ln w="12700">
            <a:solidFill>
              <a:srgbClr val="152D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94560" y="4251960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Web Speech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520440" y="4251960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3749040" y="420624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152D55"/>
          </a:solidFill>
          <a:ln w="12700">
            <a:solidFill>
              <a:srgbClr val="152D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94760" y="4251960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Transcribed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text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HEARING  ›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104120" y="2286000"/>
            <a:ext cx="1828800" cy="2697480"/>
          </a:xfrm>
          <a:prstGeom prst="roundRect">
            <a:avLst>
              <a:gd name="adj" fmla="val 5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104120" y="28803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104120" y="34290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0104120" y="40690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log,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both channels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966960" y="2331720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37" name="Shape 35"/>
          <p:cNvSpPr/>
          <p:nvPr/>
        </p:nvSpPr>
        <p:spPr>
          <a:xfrm>
            <a:off x="5166360" y="4617720"/>
            <a:ext cx="4937760" cy="0"/>
          </a:xfrm>
          <a:prstGeom prst="line">
            <a:avLst/>
          </a:prstGeom>
          <a:noFill/>
          <a:ln w="25400">
            <a:solidFill>
              <a:srgbClr val="0F8F86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10104120" y="4617720"/>
            <a:ext cx="0" cy="-1371600"/>
          </a:xfrm>
          <a:prstGeom prst="line">
            <a:avLst/>
          </a:prstGeom>
          <a:noFill/>
          <a:ln w="25400">
            <a:solidFill>
              <a:srgbClr val="0F8F86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Landmarks (not video) cross the wire.   No GPU.   No installation.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48640" y="60807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  Next.js 15 (App Router, React 18, TypeScript) + MediaPipe Tasks API + Web Speech API     |     BACKEND  Flask + Flask-SocketIO + ONNX Runtime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SignLearn  ·  University of Rwanda  ·  Final Defense 2025–2026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targets met — by 13 points and 15×.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86400" cy="4114800"/>
          </a:xfrm>
          <a:prstGeom prst="roundRect">
            <a:avLst>
              <a:gd name="adj" fmla="val 2667"/>
            </a:avLst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65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LETTERS &amp; DIGITS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36 classes  ·  n = 11 417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97.84%</a:t>
            </a:r>
            <a:endParaRPr lang="en-US" sz="8400" dirty="0"/>
          </a:p>
        </p:txBody>
      </p:sp>
      <p:sp>
        <p:nvSpPr>
          <p:cNvPr id="9" name="Text 7"/>
          <p:cNvSpPr/>
          <p:nvPr/>
        </p:nvSpPr>
        <p:spPr>
          <a:xfrm>
            <a:off x="777240" y="38862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Test accuracy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4434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Macro F1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4434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95.45 %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4846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ONNX p95 latency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4846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0.23 ms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5257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Params  ·  ONNX size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5257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126 372  ·  538 KB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63640" y="1783080"/>
            <a:ext cx="54864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965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WORDS  ·  ASL-CITIZEN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2331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47 curated conversational classes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278892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87.4</a:t>
            </a:r>
            <a:pPr indent="0" marL="0">
              <a:buNone/>
            </a:pPr>
            <a:r>
              <a:rPr lang="en-US" sz="32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6000" dirty="0"/>
          </a:p>
        </p:txBody>
      </p:sp>
      <p:sp>
        <p:nvSpPr>
          <p:cNvPr id="20" name="Text 18"/>
          <p:cNvSpPr/>
          <p:nvPr/>
        </p:nvSpPr>
        <p:spPr>
          <a:xfrm>
            <a:off x="6492240" y="37947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top-1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098280" y="278892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F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97.7</a:t>
            </a:r>
            <a:pPr indent="0" marL="0">
              <a:buNone/>
            </a:pPr>
            <a:r>
              <a:rPr lang="en-US" sz="3200" b="1" dirty="0">
                <a:solidFill>
                  <a:srgbClr val="0F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6000" dirty="0"/>
          </a:p>
        </p:txBody>
      </p:sp>
      <p:sp>
        <p:nvSpPr>
          <p:cNvPr id="22" name="Text 20"/>
          <p:cNvSpPr/>
          <p:nvPr/>
        </p:nvSpPr>
        <p:spPr>
          <a:xfrm>
            <a:off x="9098280" y="37947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top-5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92240" y="4343400"/>
            <a:ext cx="5029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4526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Broader 97-class config — top-1 67.7 %  ·  top-5 91.2 %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92240" y="49377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3.4× lift vs. WLASL baseline (26 % → 87 %) — driven by data, not architecture.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59893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F8F8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Specification:  ≥ 85 % accuracy   ·   &lt; 2 s end-to-end   ·   &lt; 500 ms inference.    All exceeded.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SignLearn  ·  University of Rwanda  ·  Final Defense 2025–2026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 DEMO  ·  LIVE SYSTEM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to the live application.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109960" cy="4114800"/>
          </a:xfrm>
          <a:prstGeom prst="roundRect">
            <a:avLst>
              <a:gd name="adj" fmla="val 3333"/>
            </a:avLst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94560"/>
            <a:ext cx="11109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DEMO  —  NO SIMULATION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2971800"/>
            <a:ext cx="10012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now switch to the SignLearn web application running on this laptop.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097280" y="3749040"/>
            <a:ext cx="256032" cy="25603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7490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08760" y="370332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Signer panel  —  fingerspell a name and a four-digit student ID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97280" y="4206240"/>
            <a:ext cx="256032" cy="25603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2062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08760" y="416052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Hearing panel  —  speak a question; watch it appear in the transcript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97280" y="4663440"/>
            <a:ext cx="256032" cy="25603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6634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08760" y="461772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Shared transcript  —  see both channels interleave in one conversation log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97280" y="5120640"/>
            <a:ext cx="256032" cy="25603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51206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08760" y="507492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Round-trip latency  —  observe the on-screen telemetry (~40 ms mean)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5989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Backup: if the live system fails, a recorded run is available — but the recorded run is identical to what the panel will see now.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SignLearn  ·  University of Rwanda  ·  Final Defense 2025–2026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LIMITATIONS  ·  FUTURE 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scope.  Clear next steps.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5440680" cy="7315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65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LIMITATIONS  ·  STATED OPENLY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58775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sweep configurations used seed = 42. Cross-seed bootstrap is the first reproducibility extension.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04495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DHH user study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300984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Research Question 4 (perceived usability) is unanswered in this submission.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75818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Word-vocab data scarcity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4014216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Word model bounded by ~13 train samples per class. Limits broad-vocabulary accuracy.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447141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signing OOS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472744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Multi-sign phrases and continuous video are out of scope; only isolated signs handled.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518464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Linguistic confusion pairs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5440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 ≡ V,  six ≡ W,  zero ≡ O share identical ASL handshapes — ~1 % of error is linguistic.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783080"/>
            <a:ext cx="544068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783080"/>
            <a:ext cx="5440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1965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 WORK  ·  THREE HORIZONS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46520" y="2331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NEAR  ·  3 months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46520" y="262432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Community-partnered recording of ~25 conversational words with native Rwandan signers (3–5 signers per class). Projected 90 %+ top-1 on meeting vocabulary.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6520" y="3520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MEDIUM  ·  12 months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46520" y="381304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Continuous-sign training via CTC loss. Mobile packaging. Fully in-browser ONNX (no backend).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46520" y="47091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 ·  partnership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46520" y="500176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Kinyarwanda Sign Language (RSL) extension with the Rwanda National Union of the Deaf — Rwanda-specific accessibility.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6035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F8F8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highest-leverage next step is partnership, not architecture.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SignLearn  ·  University of Rwanda  ·  Final Defense 2025–2026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914400"/>
            <a:ext cx="109728" cy="109728"/>
          </a:xfrm>
          <a:prstGeom prst="ellipse">
            <a:avLst/>
          </a:prstGeom>
          <a:solidFill>
            <a:srgbClr val="14B8A6">
              <a:alpha val="40000"/>
            </a:srgbClr>
          </a:solidFill>
          <a:ln w="1270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1097280"/>
            <a:ext cx="109728" cy="109728"/>
          </a:xfrm>
          <a:prstGeom prst="ellipse">
            <a:avLst/>
          </a:prstGeom>
          <a:solidFill>
            <a:srgbClr val="14B8A6">
              <a:alpha val="40000"/>
            </a:srgbClr>
          </a:solidFill>
          <a:ln w="1270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18520" y="1325880"/>
            <a:ext cx="109728" cy="109728"/>
          </a:xfrm>
          <a:prstGeom prst="ellipse">
            <a:avLst/>
          </a:prstGeom>
          <a:solidFill>
            <a:srgbClr val="14B8A6">
              <a:alpha val="40000"/>
            </a:srgbClr>
          </a:solidFill>
          <a:ln w="1270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0" y="1600200"/>
            <a:ext cx="109728" cy="109728"/>
          </a:xfrm>
          <a:prstGeom prst="ellipse">
            <a:avLst/>
          </a:prstGeom>
          <a:solidFill>
            <a:srgbClr val="14B8A6">
              <a:alpha val="40000"/>
            </a:srgbClr>
          </a:solidFill>
          <a:ln w="1270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47120" y="1874520"/>
            <a:ext cx="109728" cy="109728"/>
          </a:xfrm>
          <a:prstGeom prst="ellipse">
            <a:avLst/>
          </a:prstGeom>
          <a:solidFill>
            <a:srgbClr val="14B8A6">
              <a:alpha val="40000"/>
            </a:srgbClr>
          </a:solidFill>
          <a:ln w="1270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07040" y="914400"/>
            <a:ext cx="0" cy="0"/>
          </a:xfrm>
          <a:prstGeom prst="line">
            <a:avLst/>
          </a:prstGeom>
          <a:noFill/>
          <a:ln w="635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07040" y="914400"/>
            <a:ext cx="228600" cy="182880"/>
          </a:xfrm>
          <a:prstGeom prst="line">
            <a:avLst/>
          </a:prstGeom>
          <a:noFill/>
          <a:ln w="635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07040" y="914400"/>
            <a:ext cx="411480" cy="411480"/>
          </a:xfrm>
          <a:prstGeom prst="line">
            <a:avLst/>
          </a:prstGeom>
          <a:noFill/>
          <a:ln w="635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07040" y="914400"/>
            <a:ext cx="548640" cy="685800"/>
          </a:xfrm>
          <a:prstGeom prst="line">
            <a:avLst/>
          </a:prstGeom>
          <a:noFill/>
          <a:ln w="635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07040" y="914400"/>
            <a:ext cx="640080" cy="960120"/>
          </a:xfrm>
          <a:prstGeom prst="line">
            <a:avLst/>
          </a:prstGeom>
          <a:noFill/>
          <a:ln w="635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High-quality, real-time sign recognition is here.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914400" y="32004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left to build is a dataset — together.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914400" y="4572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claim in this defense traces to a file in our public repository.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5212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&amp;  A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914400" y="5669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 are ready for your questions.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61264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samuel.abayizera@amalitech.com  ·  github.com/&lt;org&gt;/signlearn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SignLearn — Final Defense Deck</dc:title>
  <dc:subject>PptxGenJS Presentation</dc:subject>
  <dc:creator>PptxGenJS</dc:creator>
  <cp:lastModifiedBy>PptxGenJS</cp:lastModifiedBy>
  <cp:revision>1</cp:revision>
  <dcterms:created xsi:type="dcterms:W3CDTF">2026-06-17T08:00:48Z</dcterms:created>
  <dcterms:modified xsi:type="dcterms:W3CDTF">2026-06-17T08:00:48Z</dcterms:modified>
</cp:coreProperties>
</file>