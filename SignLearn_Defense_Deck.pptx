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98480" y="3200400"/>
            <a:ext cx="91440" cy="-228600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98480" y="3200400"/>
            <a:ext cx="365760" cy="-210312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98480" y="3200400"/>
            <a:ext cx="548640" cy="-182880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98480" y="3200400"/>
            <a:ext cx="640080" cy="-150876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3200400"/>
            <a:ext cx="685800" cy="-118872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98480" y="3200400"/>
            <a:ext cx="-45720" cy="-192024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98480" y="3200400"/>
            <a:ext cx="228600" cy="-155448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98480" y="3200400"/>
            <a:ext cx="347472" cy="-123444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98480" y="3200400"/>
            <a:ext cx="411480" cy="-96012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98480" y="3200400"/>
            <a:ext cx="-228600" cy="-173736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98480" y="3200400"/>
            <a:ext cx="45720" cy="-132588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98480" y="3200400"/>
            <a:ext cx="137160" cy="-100584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698480" y="3200400"/>
            <a:ext cx="201168" cy="-73152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98480" y="3200400"/>
            <a:ext cx="-411480" cy="-150876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698480" y="3200400"/>
            <a:ext cx="-137160" cy="-109728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8480" y="3200400"/>
            <a:ext cx="-45720" cy="-804672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98480" y="3200400"/>
            <a:ext cx="18288" cy="-54864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698480" y="3200400"/>
            <a:ext cx="-640080" cy="-123444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3200400"/>
            <a:ext cx="-320040" cy="-86868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98480" y="3200400"/>
            <a:ext cx="-228600" cy="-59436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698480" y="3200400"/>
            <a:ext cx="-182880" cy="-365760"/>
          </a:xfrm>
          <a:prstGeom prst="line">
            <a:avLst/>
          </a:prstGeom>
          <a:noFill/>
          <a:ln w="6350">
            <a:solidFill>
              <a:srgbClr val="0F8F86">
                <a:alpha val="4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735056" y="8595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09376" y="10424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192256" y="13167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283696" y="1636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329416" y="19568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597896" y="12252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872216" y="15910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991088" y="19110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055096" y="21854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0415016" y="14081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689336" y="18196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780776" y="21396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844784" y="24140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232136" y="1636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506456" y="20482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97896" y="2340864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61904" y="25968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03536" y="19110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323576" y="22768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415016" y="25511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60736" y="2779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607040" y="310896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1920240"/>
            <a:ext cx="9144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SignLearn</a:t>
            </a:r>
            <a:endParaRPr lang="en-US" sz="9600" dirty="0"/>
          </a:p>
        </p:txBody>
      </p:sp>
      <p:sp>
        <p:nvSpPr>
          <p:cNvPr id="46" name="Text 44"/>
          <p:cNvSpPr/>
          <p:nvPr/>
        </p:nvSpPr>
        <p:spPr>
          <a:xfrm>
            <a:off x="658368" y="3383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14B8A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Real-Time ASL ↔ English Conversation, on the Web.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658368" y="5120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ABAYIZERA Samuel</a:t>
            </a:r>
            <a:pPr algn="l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· 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BIZIMANA Bertin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658368" y="54864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University of Rwanda  ·  College of Science and Technology  ·  Dept. of Computer &amp; Software Engineering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8368" y="585216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Supervisors: Dr. Alexander NGENZI  ·  Dieudonné UKULIKIYEYESU   |   Academic Year 2025–2026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exclusion, at scale.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50,000</a:t>
            </a:r>
            <a:endParaRPr lang="en-US" sz="20000" dirty="0"/>
          </a:p>
        </p:txBody>
      </p:sp>
      <p:sp>
        <p:nvSpPr>
          <p:cNvPr id="5" name="Text 3"/>
          <p:cNvSpPr/>
          <p:nvPr/>
        </p:nvSpPr>
        <p:spPr>
          <a:xfrm>
            <a:off x="1371600" y="45720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Certified ASL interpreters per Deaf or Hard-of-Hearing user in Rwanda.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466 million Deaf or Hard-of-Hearing people globally  ·  ~50,000 in Rwanda  ·  zero on call when the need arises.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424160" y="548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Significance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13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WHO BENEFITS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groups. Real moments.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Significance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2194560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DHH individuals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Primary users — Deaf and Hard-of-Hearing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4114800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5196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student spelling her name to a new teacher in week one of term.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520440" y="19202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2194560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74904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&amp; clinicians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4904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Frontline interactions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749040" y="4114800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49040" y="425196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nurse understanding "chest pain — left side" in under 30 seconds.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92240" y="19202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194560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2084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learners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72084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Hearing parents, interpreters in training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720840" y="4114800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425196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Instant feedback on whether a handshape is correct.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464040" y="1920240"/>
            <a:ext cx="2606040" cy="3749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738360" y="2194560"/>
            <a:ext cx="685800" cy="6858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38360" y="21945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692640" y="3063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692640" y="34747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 open, audited baseline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692640" y="4114800"/>
            <a:ext cx="548640" cy="0"/>
          </a:xfrm>
          <a:prstGeom prst="line">
            <a:avLst/>
          </a:prstGeom>
          <a:noFill/>
          <a:ln w="19050">
            <a:solidFill>
              <a:srgbClr val="14B8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92640" y="4251960"/>
            <a:ext cx="22402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Six architectures, full per-run reports, ONNX checkpoint — public.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13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WHY EXISTING SOLUTIONS FAIL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 and methodology gap —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research gap.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42416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Novelty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2377440"/>
            <a:ext cx="32004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ONE-WAY ONLY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3657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 → text  or  speech → text. Almost never both, in one session, with one transcript.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77240" y="5212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Deaf user still relies on a phone/keyboard to be heard.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237744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377440"/>
            <a:ext cx="32004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80060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HARDWARE-BOUND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00600" y="3657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State-of-the-art demands GPUs, sensor gloves, or depth cameras (Kinect, LeapMotion).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5212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Out of reach in classrooms, clinics, and Rwandan public-service offices.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95360" y="2377440"/>
            <a:ext cx="3200400" cy="36576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0" y="2377440"/>
            <a:ext cx="32004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823960" y="26060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823960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LAB-ONLY ACCURACY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823960" y="36576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Benchmark results collapse under real lighting, real backgrounds, and unseen signers.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823960" y="521208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Demos work; deployments don't.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13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directions. One transcript.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Novelty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Webcam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2024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1488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945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MediaPipe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Hands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2044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7490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WebSocket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53492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949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30-frame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buffer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2084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69494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951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TCN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2104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8549640" y="228600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233172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Smoothed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1783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SIGNER  ›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2062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42519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Microphone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920240" y="425196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2148840" y="42062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0" y="42519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Web Speech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API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520440" y="425196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400" dirty="0"/>
          </a:p>
        </p:txBody>
      </p:sp>
      <p:sp>
        <p:nvSpPr>
          <p:cNvPr id="30" name="Shape 28"/>
          <p:cNvSpPr/>
          <p:nvPr/>
        </p:nvSpPr>
        <p:spPr>
          <a:xfrm>
            <a:off x="3749040" y="4206240"/>
            <a:ext cx="1417320" cy="868680"/>
          </a:xfrm>
          <a:prstGeom prst="roundRect">
            <a:avLst>
              <a:gd name="adj" fmla="val 8421"/>
            </a:avLst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794760" y="4251960"/>
            <a:ext cx="1325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Transcribed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text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37033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HEARING  ›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0104120" y="2286000"/>
            <a:ext cx="1828800" cy="2697480"/>
          </a:xfrm>
          <a:prstGeom prst="roundRect">
            <a:avLst>
              <a:gd name="adj" fmla="val 5000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04120" y="2880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104120" y="34290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0104120" y="40690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log,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both channels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966960" y="2331720"/>
            <a:ext cx="274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38" name="Shape 36"/>
          <p:cNvSpPr/>
          <p:nvPr/>
        </p:nvSpPr>
        <p:spPr>
          <a:xfrm>
            <a:off x="5166360" y="4617720"/>
            <a:ext cx="4937760" cy="0"/>
          </a:xfrm>
          <a:prstGeom prst="line">
            <a:avLst/>
          </a:prstGeom>
          <a:noFill/>
          <a:ln w="25400">
            <a:solidFill>
              <a:srgbClr val="0F8F86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10104120" y="4617720"/>
            <a:ext cx="0" cy="-1371600"/>
          </a:xfrm>
          <a:prstGeom prst="line">
            <a:avLst/>
          </a:prstGeom>
          <a:noFill/>
          <a:ln w="25400">
            <a:solidFill>
              <a:srgbClr val="0F8F86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548640" y="55778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A1F3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Landmarks (not video) cross the wire.   No GPU.   No installation.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13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by data, not by guess.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LSTM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1901952"/>
            <a:ext cx="1463040" cy="310896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82880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96.40%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2395728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BiLSTM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2468880"/>
            <a:ext cx="2560320" cy="310896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89320" y="239572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96.70%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2962656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Transformer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91840" y="3035808"/>
            <a:ext cx="3291840" cy="310896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962656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96.90%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529584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CNN-BiLSTM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91840" y="3602736"/>
            <a:ext cx="4389120" cy="310896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352958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97.20%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4096512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Conformer-Lite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291840" y="4169664"/>
            <a:ext cx="1828800" cy="310896"/>
          </a:xfrm>
          <a:prstGeom prst="rect">
            <a:avLst/>
          </a:prstGeom>
          <a:solidFill>
            <a:srgbClr val="152D55"/>
          </a:solidFill>
          <a:ln w="12700">
            <a:solidFill>
              <a:srgbClr val="152D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40965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96.50%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F8F8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TCN (production)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91840" y="4736592"/>
            <a:ext cx="6729984" cy="310896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58984" y="466344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97.84%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91840" y="5276088"/>
            <a:ext cx="731520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91840" y="5276088"/>
            <a:ext cx="0" cy="73152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17520" y="5367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96.0%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120640" y="5276088"/>
            <a:ext cx="0" cy="73152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5367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96.5%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9440" y="5276088"/>
            <a:ext cx="0" cy="73152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5367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97.0%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778240" y="5276088"/>
            <a:ext cx="0" cy="73152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5367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97.5%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607040" y="5276088"/>
            <a:ext cx="0" cy="73152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32720" y="5367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98.0%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91840" y="568756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accuracy — 36 classes (a–z + 0–9), n = 11 417, seed = 42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Twelve runs.  Identical splits, seed, epochs, batch.  Five architectures cross 96 %.  TCN wins on accuracy ÷ params ÷ latency.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13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&amp; SPLITS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audited.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 ·  LETTERS &amp; DIGITS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classes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3649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Kaggle ASL Alphabet + Kaggle ASL Digits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AUGMENTATION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40050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Balanced to 600 samples / class (rotate, scale, translate, noise, drop)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 SAMPLES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46451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11,417 — signer-aware split (no signer in both train &amp; test)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029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PRE-PROCESSING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22960" y="52852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Wrist-centred + unit-scaled per hand (range ≈ [−1, 1])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4864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28800"/>
            <a:ext cx="5486400" cy="73152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0574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RESEARCH EXTENSION  ·  WORDS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4231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→ 97 classes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537960" y="31089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PIVOT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37960" y="336499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WLASL → ASL-Citizen (~3× signer diversity, controlled capture)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74904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LIFT FROM PIVOT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37960" y="400507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26.0 % → 87.4 % top-1 on comparably sized vocabulary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537960" y="4389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BEST CONFIG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37960" y="464515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47-class TCN: 87.4 % top-1  ·  97.7 % top-5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537960" y="5029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BROADEST CONFIG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5285232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97-class TCN: 67.7 % top-1  ·  91.2 % top-5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59893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LINGUISTIC NOTE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40280" y="5989320"/>
            <a:ext cx="9601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Confusion pairs  two ≡ V,  six ≡ W,  zero ≡ O  share identical ASL handshapes — ~1 % of error is linguistic, not a model bug.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13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1430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 met — by 13 points and 15×.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595360" y="457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Methodology  ·  Verifiability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LETTERS &amp; DIGITS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 classes  ·  n = 11 417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97.84%</a:t>
            </a:r>
            <a:endParaRPr lang="en-US" sz="8400" dirty="0"/>
          </a:p>
        </p:txBody>
      </p:sp>
      <p:sp>
        <p:nvSpPr>
          <p:cNvPr id="10" name="Text 8"/>
          <p:cNvSpPr/>
          <p:nvPr/>
        </p:nvSpPr>
        <p:spPr>
          <a:xfrm>
            <a:off x="777240" y="38862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434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Macro F1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37560" y="44348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95.45 %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ONNX p95 latency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37560" y="4846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0.23 ms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5257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Params  ·  ONNX size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5257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126 372  ·  538 KB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63640" y="1783080"/>
            <a:ext cx="548640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9659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WORDS  ·  ASL-CITIZEN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331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47 curated conversational classes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2788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87.4</a:t>
            </a:r>
            <a:pPr indent="0" marL="0">
              <a:buNone/>
            </a:pPr>
            <a:r>
              <a:rPr lang="en-US" sz="32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649224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top-1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98280" y="278892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97.7</a:t>
            </a:r>
            <a:pPr indent="0" marL="0">
              <a:buNone/>
            </a:pPr>
            <a:r>
              <a:rPr lang="en-US" sz="3200" b="1" dirty="0">
                <a:solidFill>
                  <a:srgbClr val="0F8F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6000" dirty="0"/>
          </a:p>
        </p:txBody>
      </p:sp>
      <p:sp>
        <p:nvSpPr>
          <p:cNvPr id="23" name="Text 21"/>
          <p:cNvSpPr/>
          <p:nvPr/>
        </p:nvSpPr>
        <p:spPr>
          <a:xfrm>
            <a:off x="9098280" y="37947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top-5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92240" y="4343400"/>
            <a:ext cx="5029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4526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Broader 97-class config — top-1 67.7 %  ·  top-5 91.2 %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493776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3.4× lift vs. WLASL baseline (26 % → 87 %) — driven by data, not architecture.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59893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8F8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Specification asked for ≥ 85 % accuracy and &lt; 2 s end-to-end latency. Delivered 97.84 % and 127 ms p95.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VERIFIABILITY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number, a file.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Verifiability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2852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20240"/>
            <a:ext cx="73152" cy="2057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03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CODE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423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GitHub repository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Public repo with full git history, CI, and LFS-tracked checkpoints.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github.com/&lt;org&gt;/signlearn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55080" y="1920240"/>
            <a:ext cx="52852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920240"/>
            <a:ext cx="73152" cy="2057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2103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PER-RUN REPORTS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2423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run, every metric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83680" y="2880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config · history · metrics · classification report · confusion matrix.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83680" y="34747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artifacts/runs/&lt;name&gt;/reports/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52852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114800"/>
            <a:ext cx="73152" cy="2057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297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CHECKPOINTS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4617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 + ONNX, public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7724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Production ONNX 538 KB, hot-swappable via /admin/reload.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77240" y="5669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artifacts/checkpoints/tcn_best.onnx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4114800"/>
            <a:ext cx="5285232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4114800"/>
            <a:ext cx="73152" cy="2057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83680" y="429768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REPRODUCIBILITY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46177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commands, ~60 min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583680" y="50749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make setup → train → export-onnx → profile.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56692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see § 4.5.1 of the thesis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F8F8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claim in this deck traces to a file we have published.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13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SYSTEM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works. Right now.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Presentation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11091672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783080"/>
            <a:ext cx="11091672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874520"/>
            <a:ext cx="146304" cy="146304"/>
          </a:xfrm>
          <a:prstGeom prst="ellipse">
            <a:avLst/>
          </a:prstGeom>
          <a:solidFill>
            <a:srgbClr val="E53E3E"/>
          </a:solidFill>
          <a:ln w="12700">
            <a:solidFill>
              <a:srgbClr val="E53E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874520"/>
            <a:ext cx="146304" cy="146304"/>
          </a:xfrm>
          <a:prstGeom prst="ellipse">
            <a:avLst/>
          </a:prstGeom>
          <a:solidFill>
            <a:srgbClr val="ECC94B"/>
          </a:solidFill>
          <a:ln w="12700">
            <a:solidFill>
              <a:srgbClr val="ECC9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15568" y="1874520"/>
            <a:ext cx="146304" cy="146304"/>
          </a:xfrm>
          <a:prstGeom prst="ellipse">
            <a:avLst/>
          </a:prstGeom>
          <a:solidFill>
            <a:srgbClr val="48BB78"/>
          </a:solidFill>
          <a:ln w="12700">
            <a:solidFill>
              <a:srgbClr val="48BB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80136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signlearn.local  ·  Room A1B2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789920" y="1801368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8BB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● live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77240" y="2286000"/>
            <a:ext cx="5212080" cy="3474720"/>
          </a:xfrm>
          <a:prstGeom prst="rect">
            <a:avLst/>
          </a:prstGeom>
          <a:solidFill>
            <a:srgbClr val="0A1F3D"/>
          </a:solidFill>
          <a:ln w="12700">
            <a:solidFill>
              <a:srgbClr val="0A1F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0" y="4114800"/>
            <a:ext cx="0" cy="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4114800"/>
            <a:ext cx="182880" cy="-18288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0" y="4114800"/>
            <a:ext cx="365760" cy="-36576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0" y="4114800"/>
            <a:ext cx="502920" cy="-54864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0" y="4114800"/>
            <a:ext cx="594360" cy="-73152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4114800"/>
            <a:ext cx="-45720" cy="-45720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0" y="4114800"/>
            <a:ext cx="45720" cy="-77724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0" y="4114800"/>
            <a:ext cx="137160" cy="-100584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743200" y="4114800"/>
            <a:ext cx="228600" cy="-118872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43200" y="4114800"/>
            <a:ext cx="-228600" cy="-45720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0" y="4114800"/>
            <a:ext cx="-182880" cy="-86868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0" y="4114800"/>
            <a:ext cx="-137160" cy="-114300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0" y="4114800"/>
            <a:ext cx="-91440" cy="-137160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0" y="4114800"/>
            <a:ext cx="-411480" cy="-41148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4114800"/>
            <a:ext cx="-411480" cy="-77724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0" y="4114800"/>
            <a:ext cx="-365760" cy="-105156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743200" y="4114800"/>
            <a:ext cx="-320040" cy="-128016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0" y="4114800"/>
            <a:ext cx="-566928" cy="-32004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0" y="4114800"/>
            <a:ext cx="-640080" cy="-64008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743200" y="4114800"/>
            <a:ext cx="-685800" cy="-91440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0" y="4114800"/>
            <a:ext cx="-713232" cy="-1143000"/>
          </a:xfrm>
          <a:prstGeom prst="line">
            <a:avLst/>
          </a:prstGeom>
          <a:noFill/>
          <a:ln w="12700">
            <a:solidFill>
              <a:srgbClr val="14B8A6">
                <a:alpha val="7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688336" y="40599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871216" y="38770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054096" y="36941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191256" y="35112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82696" y="33284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642616" y="36027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34056" y="32826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825496" y="30540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16936" y="287121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459736" y="36027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505456" y="31912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2551176" y="29169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596896" y="26883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276856" y="36484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76856" y="32826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322576" y="30083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368296" y="277977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21408" y="373989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048256" y="341985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002536" y="31455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975104" y="2916936"/>
            <a:ext cx="109728" cy="10972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670048" y="404164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57600" y="265176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0" dirty="0"/>
          </a:p>
        </p:txBody>
      </p:sp>
      <p:sp>
        <p:nvSpPr>
          <p:cNvPr id="59" name="Text 57"/>
          <p:cNvSpPr/>
          <p:nvPr/>
        </p:nvSpPr>
        <p:spPr>
          <a:xfrm>
            <a:off x="365760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 0.94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172200" y="2286000"/>
            <a:ext cx="5303520" cy="3474720"/>
          </a:xfrm>
          <a:prstGeom prst="rect">
            <a:avLst/>
          </a:prstGeom>
          <a:solidFill>
            <a:srgbClr val="F8F7F2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355080" y="2423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HEARING  ·  speech-to-text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927080" y="2377440"/>
            <a:ext cx="411480" cy="4114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927080" y="23774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6355080" y="2834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Hearing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6355080" y="3108960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46520" y="31089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Hi! How can I help you today?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355080" y="35204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Signer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355080" y="3794760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46520" y="37947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 · E · L · L · O   →  HELLO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6355080" y="4206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Hearing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355080" y="4480560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446520" y="4480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Nice to meet you. What is your student ID?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6355080" y="4892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Signer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355080" y="5166360"/>
            <a:ext cx="4937760" cy="365760"/>
          </a:xfrm>
          <a:prstGeom prst="roundRect">
            <a:avLst>
              <a:gd name="adj" fmla="val 20000"/>
            </a:avLst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446520" y="51663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· 0 · 2 · 6 · 0 · 8 · 1 · 5</a:t>
            </a:r>
            <a:endParaRPr lang="en-US" sz="1200" dirty="0"/>
          </a:p>
        </p:txBody>
      </p:sp>
      <p:sp>
        <p:nvSpPr>
          <p:cNvPr id="76" name="Text 74"/>
          <p:cNvSpPr/>
          <p:nvPr/>
        </p:nvSpPr>
        <p:spPr>
          <a:xfrm>
            <a:off x="548640" y="6126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round-trip:   mean 41 ms   ·   p95 127 ms</a:t>
            </a:r>
            <a:endParaRPr lang="en-US" sz="1400" dirty="0"/>
          </a:p>
        </p:txBody>
      </p:sp>
      <p:sp>
        <p:nvSpPr>
          <p:cNvPr id="77" name="Text 75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lives, today.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424160" y="4572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Significance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148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73736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737360" y="2651760"/>
            <a:ext cx="5486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278892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Deaf student spells her name to a new teacher in the first week of term — no interpreter required, no phone in hand.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192024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14884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7498080" y="219456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 front desk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498080" y="2651760"/>
            <a:ext cx="5486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78892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triage nurse understands "chest pain — left side" from a non-speaking patient in under 30 seconds.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6908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297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34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learner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737360" y="4800600"/>
            <a:ext cx="5486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493776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hearing parent of a Deaf child practises handshapes at the kitchen table with instant feedback.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069080"/>
            <a:ext cx="55321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297680"/>
            <a:ext cx="822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4B8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7498080" y="4343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498080" y="4800600"/>
            <a:ext cx="54864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0" y="4937760"/>
            <a:ext cx="41605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graduate student builds a continuous-signing model on our open ONNX baseline instead of starting from scratch.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8F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horizons.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77824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Significance × Novelty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22960" y="3931920"/>
            <a:ext cx="10515600" cy="0"/>
          </a:xfrm>
          <a:prstGeom prst="line">
            <a:avLst/>
          </a:prstGeom>
          <a:noFill/>
          <a:ln w="381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382219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NEAR · 3 months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Community-partnered recording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400300" y="2880360"/>
            <a:ext cx="0" cy="960120"/>
          </a:xfrm>
          <a:prstGeom prst="line">
            <a:avLst/>
          </a:prstGeom>
          <a:noFill/>
          <a:ln w="12700">
            <a:solidFill>
              <a:srgbClr val="0F8F86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914400" y="42976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≈25 conversational words  ·  native Rwandan signers  ·  3–5 signers/class  ·  projected 90 %+ top-1 on meeting vocabulary.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0760" y="382219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· 12 months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70916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signing &amp; mobile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195060" y="2880360"/>
            <a:ext cx="0" cy="960120"/>
          </a:xfrm>
          <a:prstGeom prst="line">
            <a:avLst/>
          </a:prstGeom>
          <a:noFill/>
          <a:ln w="12700">
            <a:solidFill>
              <a:srgbClr val="0F8F8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709160" y="42976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CTC loss on continuous video  ·  mobile packaging  ·  fully in-browser ONNX, no backend.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875520" y="3822192"/>
            <a:ext cx="228600" cy="22860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8288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03920" y="2194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Kinyarwanda Sign Language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989820" y="2880360"/>
            <a:ext cx="0" cy="960120"/>
          </a:xfrm>
          <a:prstGeom prst="line">
            <a:avLst/>
          </a:prstGeom>
          <a:noFill/>
          <a:ln w="12700">
            <a:solidFill>
              <a:srgbClr val="0F8F86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8503920" y="42976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RSL extension in partnership with the Rwanda National Union of the Deaf — Rwanda-specific accessibility.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0F8F8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highest-leverage next step is partnership, not architecture.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University of Rwanda  ·  Defense 2025–2026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537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914400"/>
            <a:ext cx="109728" cy="109728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1097280"/>
            <a:ext cx="109728" cy="109728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18520" y="1325880"/>
            <a:ext cx="109728" cy="109728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0" y="1600200"/>
            <a:ext cx="109728" cy="109728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247120" y="1874520"/>
            <a:ext cx="109728" cy="109728"/>
          </a:xfrm>
          <a:prstGeom prst="ellipse">
            <a:avLst/>
          </a:prstGeom>
          <a:solidFill>
            <a:srgbClr val="14B8A6">
              <a:alpha val="40000"/>
            </a:srgbClr>
          </a:solidFill>
          <a:ln w="12700">
            <a:solidFill>
              <a:srgbClr val="14B8A6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0" y="914400"/>
            <a:ext cx="0" cy="0"/>
          </a:xfrm>
          <a:prstGeom prst="lin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914400"/>
            <a:ext cx="228600" cy="182880"/>
          </a:xfrm>
          <a:prstGeom prst="lin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914400"/>
            <a:ext cx="411480" cy="411480"/>
          </a:xfrm>
          <a:prstGeom prst="lin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07040" y="914400"/>
            <a:ext cx="548640" cy="685800"/>
          </a:xfrm>
          <a:prstGeom prst="lin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07040" y="914400"/>
            <a:ext cx="640080" cy="960120"/>
          </a:xfrm>
          <a:prstGeom prst="line">
            <a:avLst/>
          </a:prstGeom>
          <a:noFill/>
          <a:ln w="635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286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High-quality, real-time sign recognition is here.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14400" y="32004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left to build is a dataset — together.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SignLearn  ·  open source  ·  open artefacts  ·  open invitation.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14400" y="5349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samuel.abayizera@amalitech.com   ·   github.com/&lt;org&gt;/signlearn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6080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ABAYIZERA Samuel  ·  BIZIMANA Bertin  ·  University of Rwanda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SignLearn — Defense Deck</dc:title>
  <dc:subject>PptxGenJS Presentation</dc:subject>
  <dc:creator>PptxGenJS</dc:creator>
  <cp:lastModifiedBy>PptxGenJS</cp:lastModifiedBy>
  <cp:revision>1</cp:revision>
  <dcterms:created xsi:type="dcterms:W3CDTF">2026-06-16T13:06:41Z</dcterms:created>
  <dcterms:modified xsi:type="dcterms:W3CDTF">2026-06-16T13:06:41Z</dcterms:modified>
</cp:coreProperties>
</file>